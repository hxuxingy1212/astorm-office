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jpg" ContentType="image/jpeg"/>
  <Default Extension="gif" ContentType="image/gif"/>
  <Default Extension="svg" ContentType="image/svg+xml"/>
  <Default Extension="bmp" ContentType="image/bmp"/>
  <Default Extension="webp" ContentType="image/webp"/>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1695"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viewPr>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theme" Target="theme/theme1.xml"/>
<Relationship Id="rId8" Type="http://schemas.openxmlformats.org/officeDocument/2006/relationships/presProps" Target="presProps.xml"/>
<Relationship Id="rId9" Type="http://schemas.openxmlformats.org/officeDocument/2006/relationships/viewProps" Target="viewProps.xml"/>
<Relationship Id="rId10" Type="http://schemas.openxmlformats.org/officeDocument/2006/relationships/tableStyles" Target="tableStyles.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1371600" y="1371600"/>
            <a:ext cx="9448495" cy="1828800"/>
          </a:xfrm>
          <a:prstGeom prst="rect">
            <a:avLst/>
          </a:prstGeom>
        </p:spPr>
        <p:txBody>
          <a:bodyPr wrap="square" anchor="ctr"/>
          <a:lstStyle/>
          <a:p>
            <a:pPr algn="ctr"/>
            <a:r>
              <a:rPr lang="en-US" dirty="0" sz="5400" b="1">
                <a:solidFill>
                  <a:schemeClr val="accent1"/>
                </a:solidFill>
              </a:rPr>
              <a:t>现代简洁</a:t>
            </a:r>
          </a:p>
        </p:txBody>
      </p:sp>
      <p:sp>
        <p:nvSpPr>
          <p:cNvPr id="3" name="TextBox 3"/>
          <p:cNvSpPr txBox="1"/>
          <p:nvPr/>
        </p:nvSpPr>
        <p:spPr>
          <a:xfrm>
            <a:off x="1371600" y="3200400"/>
            <a:ext cx="9448495" cy="914400"/>
          </a:xfrm>
          <a:prstGeom prst="rect">
            <a:avLst/>
          </a:prstGeom>
        </p:spPr>
        <p:txBody>
          <a:bodyPr wrap="square" anchor="ctr"/>
          <a:lstStyle/>
          <a:p>
            <a:pPr algn="ctr"/>
            <a:r>
              <a:rPr lang="en-US" dirty="0" sz="2400">
                <a:solidFill>
                  <a:schemeClr val="dk2"/>
                </a:solidFill>
              </a:rPr>
              <a:t>AI-Powered Presentation Template</a:t>
            </a:r>
          </a:p>
        </p:txBody>
      </p:sp>
      <p:sp>
        <p:nvSpPr>
          <p:cNvPr id="4" name="TextBox 4"/>
          <p:cNvSpPr txBox="1"/>
          <p:nvPr/>
        </p:nvSpPr>
        <p:spPr>
          <a:xfrm>
            <a:off x="1371600" y="4389120"/>
            <a:ext cx="9448495" cy="731520"/>
          </a:xfrm>
          <a:prstGeom prst="rect">
            <a:avLst/>
          </a:prstGeom>
        </p:spPr>
        <p:txBody>
          <a:bodyPr wrap="square" anchor="ctr"/>
          <a:lstStyle/>
          <a:p>
            <a:pPr algn="ctr"/>
            <a:r>
              <a:rPr lang="en-US" dirty="0" sz="1600">
                <a:solidFill>
                  <a:schemeClr val="accent2"/>
                </a:solidFill>
              </a:rPr>
              <a:t>json2pptx · Generated from JSON</a:t>
            </a:r>
          </a:p>
        </p:txBody>
      </p:sp>
      <p:sp>
        <p:nvSpPr>
          <p:cNvPr id="5" name="Shape 5"/>
          <p:cNvSpPr/>
          <p:nvPr/>
        </p:nvSpPr>
        <p:spPr>
          <a:xfrm>
            <a:off x="4114800" y="5669280"/>
            <a:ext cx="3962095" cy="54864"/>
          </a:xfrm>
          <a:prstGeom prst="rect">
            <a:avLst/>
          </a:prstGeom>
          <a:solidFill>
            <a:schemeClr val="accent1"/>
          </a:solidFill>
        </p:spPr>
      </p:sp>
    </p:spTree>
  </p:cSl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731520" y="365760"/>
            <a:ext cx="10728655" cy="914400"/>
          </a:xfrm>
          <a:prstGeom prst="rect">
            <a:avLst/>
          </a:prstGeom>
        </p:spPr>
        <p:txBody>
          <a:bodyPr wrap="square" anchor="ctr"/>
          <a:lstStyle/>
          <a:p>
            <a:pPr algn="l"/>
            <a:r>
              <a:rPr lang="en-US" dirty="0" sz="3600" b="1">
                <a:solidFill>
                  <a:schemeClr val="accent1"/>
                </a:solidFill>
              </a:rPr>
              <a:t>Typography &amp; Colors</a:t>
            </a:r>
          </a:p>
        </p:txBody>
      </p:sp>
      <p:sp>
        <p:nvSpPr>
          <p:cNvPr id="3" name="Shape 3"/>
          <p:cNvSpPr/>
          <p:nvPr/>
        </p:nvSpPr>
        <p:spPr>
          <a:xfrm>
            <a:off x="731520" y="1188720"/>
            <a:ext cx="2743200" cy="36576"/>
          </a:xfrm>
          <a:prstGeom prst="rect">
            <a:avLst/>
          </a:prstGeom>
          <a:solidFill>
            <a:schemeClr val="accent2"/>
          </a:solidFill>
        </p:spPr>
      </p:sp>
      <p:sp>
        <p:nvSpPr>
          <p:cNvPr id="4" name="TextBox 4"/>
          <p:cNvSpPr txBox="1"/>
          <p:nvPr/>
        </p:nvSpPr>
        <p:spPr>
          <a:xfrm>
            <a:off x="731520" y="1463040"/>
            <a:ext cx="10728655" cy="731520"/>
          </a:xfrm>
          <a:prstGeom prst="rect">
            <a:avLst/>
          </a:prstGeom>
        </p:spPr>
        <p:txBody>
          <a:bodyPr wrap="square" anchor="ctr"/>
          <a:lstStyle/>
          <a:p>
            <a:pPr algn="l"/>
            <a:r>
              <a:rPr lang="en-US" dirty="0" sz="2800" b="1">
                <a:solidFill>
                  <a:schemeClr val="dk1"/>
                </a:solidFill>
              </a:rPr>
              <a:t>Heading 1 — Major font, accent1 color</a:t>
            </a:r>
          </a:p>
        </p:txBody>
      </p:sp>
      <p:sp>
        <p:nvSpPr>
          <p:cNvPr id="5" name="TextBox 5"/>
          <p:cNvSpPr txBox="1"/>
          <p:nvPr/>
        </p:nvSpPr>
        <p:spPr>
          <a:xfrm>
            <a:off x="731520" y="2194560"/>
            <a:ext cx="10728655" cy="640080"/>
          </a:xfrm>
          <a:prstGeom prst="rect">
            <a:avLst/>
          </a:prstGeom>
        </p:spPr>
        <p:txBody>
          <a:bodyPr wrap="square" anchor="ctr"/>
          <a:lstStyle/>
          <a:p>
            <a:pPr algn="l"/>
            <a:r>
              <a:rPr lang="en-US" dirty="0" sz="2200">
                <a:solidFill>
                  <a:schemeClr val="dk2"/>
                </a:solidFill>
              </a:rPr>
              <a:t>Heading 2 — Minor font, dk2 color</a:t>
            </a:r>
          </a:p>
        </p:txBody>
      </p:sp>
      <p:sp>
        <p:nvSpPr>
          <p:cNvPr id="6" name="TextBox 6"/>
          <p:cNvSpPr txBox="1"/>
          <p:nvPr/>
        </p:nvSpPr>
        <p:spPr>
          <a:xfrm>
            <a:off x="731520" y="2926080"/>
            <a:ext cx="6400800" cy="1097280"/>
          </a:xfrm>
          <a:prstGeom prst="rect">
            <a:avLst/>
          </a:prstGeom>
        </p:spPr>
        <p:txBody>
          <a:bodyPr wrap="square" anchor="t"/>
          <a:lstStyle/>
          <a:p>
            <a:pPr algn="l"/>
            <a:r>
              <a:rPr lang="en-US" dirty="0" sz="1600">
                <a:solidFill>
                  <a:schemeClr val="dk1"/>
                </a:solidFill>
              </a:rPr>
              <a:t>Body text using the template's font scheme. This demonstrates how the theme colors and fonts flow through to all text elements. Accent colors can be referenced by name like accent1 through accent6.</a:t>
            </a:r>
          </a:p>
        </p:txBody>
      </p:sp>
      <p:sp>
        <p:nvSpPr>
          <p:cNvPr id="7" name="Shape 7"/>
          <p:cNvSpPr/>
          <p:nvPr/>
        </p:nvSpPr>
        <p:spPr>
          <a:xfrm>
            <a:off x="7772400" y="1463040"/>
            <a:ext cx="3657600" cy="914400"/>
          </a:xfrm>
          <a:prstGeom prst="roundRect">
            <a:avLst/>
          </a:prstGeom>
          <a:solidFill>
            <a:schemeClr val="accent1"/>
          </a:solidFill>
          <a:effectLst>
            <a:outerShdw blurRad="76200" dist="38100" dir="2700000" rotWithShape="0">
              <a:srgbClr val="000000">
                <a:alpha val="300"/>
              </a:srgbClr>
            </a:outerShdw>
          </a:effectLst>
        </p:spPr>
        <p:txBody>
          <a:bodyPr wrap="square" anchor="ctr"/>
          <a:lstStyle/>
          <a:p>
            <a:pPr algn="ctr"/>
            <a:r>
              <a:rPr lang="en-US" dirty="0" sz="1800">
                <a:solidFill>
                  <a:schemeClr val="lt1"/>
                </a:solidFill>
              </a:rPr>
              <a:t>Accent 1</a:t>
            </a:r>
          </a:p>
        </p:txBody>
      </p:sp>
      <p:sp>
        <p:nvSpPr>
          <p:cNvPr id="8" name="Shape 8"/>
          <p:cNvSpPr/>
          <p:nvPr/>
        </p:nvSpPr>
        <p:spPr>
          <a:xfrm>
            <a:off x="7772400" y="2560320"/>
            <a:ext cx="3657600" cy="914400"/>
          </a:xfrm>
          <a:prstGeom prst="roundRect">
            <a:avLst/>
          </a:prstGeom>
          <a:solidFill>
            <a:schemeClr val="accent2"/>
          </a:solidFill>
          <a:effectLst>
            <a:outerShdw blurRad="76200" dist="38100" dir="2700000" rotWithShape="0">
              <a:srgbClr val="000000">
                <a:alpha val="300"/>
              </a:srgbClr>
            </a:outerShdw>
          </a:effectLst>
        </p:spPr>
        <p:txBody>
          <a:bodyPr wrap="square" anchor="ctr"/>
          <a:lstStyle/>
          <a:p>
            <a:pPr algn="ctr"/>
            <a:r>
              <a:rPr lang="en-US" dirty="0" sz="1800">
                <a:solidFill>
                  <a:schemeClr val="lt1"/>
                </a:solidFill>
              </a:rPr>
              <a:t>Accent 2</a:t>
            </a:r>
          </a:p>
        </p:txBody>
      </p:sp>
      <p:sp>
        <p:nvSpPr>
          <p:cNvPr id="9" name="Shape 9"/>
          <p:cNvSpPr/>
          <p:nvPr/>
        </p:nvSpPr>
        <p:spPr>
          <a:xfrm>
            <a:off x="7772400" y="3657600"/>
            <a:ext cx="3657600" cy="914400"/>
          </a:xfrm>
          <a:prstGeom prst="roundRect">
            <a:avLst/>
          </a:prstGeom>
          <a:solidFill>
            <a:schemeClr val="accent3"/>
          </a:solidFill>
          <a:effectLst>
            <a:outerShdw blurRad="76200" dist="38100" dir="2700000" rotWithShape="0">
              <a:srgbClr val="000000">
                <a:alpha val="300"/>
              </a:srgbClr>
            </a:outerShdw>
          </a:effectLst>
        </p:spPr>
        <p:txBody>
          <a:bodyPr wrap="square" anchor="ctr"/>
          <a:lstStyle/>
          <a:p>
            <a:pPr algn="ctr"/>
            <a:r>
              <a:rPr lang="en-US" dirty="0" sz="1800">
                <a:solidFill>
                  <a:schemeClr val="lt1"/>
                </a:solidFill>
              </a:rPr>
              <a:t>Accent 3</a:t>
            </a:r>
          </a:p>
        </p:txBody>
      </p:sp>
      <p:sp>
        <p:nvSpPr>
          <p:cNvPr id="10" name="Shape 10"/>
          <p:cNvSpPr/>
          <p:nvPr/>
        </p:nvSpPr>
        <p:spPr>
          <a:xfrm>
            <a:off x="7772400" y="4754880"/>
            <a:ext cx="3657600" cy="914400"/>
          </a:xfrm>
          <a:prstGeom prst="roundRect">
            <a:avLst/>
          </a:prstGeom>
          <a:solidFill>
            <a:schemeClr val="accent4"/>
          </a:solidFill>
          <a:effectLst>
            <a:outerShdw blurRad="76200" dist="38100" dir="2700000" rotWithShape="0">
              <a:srgbClr val="000000">
                <a:alpha val="300"/>
              </a:srgbClr>
            </a:outerShdw>
          </a:effectLst>
        </p:spPr>
        <p:txBody>
          <a:bodyPr wrap="square" anchor="ctr"/>
          <a:lstStyle/>
          <a:p>
            <a:pPr algn="ctr"/>
            <a:r>
              <a:rPr lang="en-US" dirty="0" sz="1800">
                <a:solidFill>
                  <a:schemeClr val="dk1"/>
                </a:solidFill>
              </a:rPr>
              <a:t>Accent 4</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731520" y="365760"/>
            <a:ext cx="10728655" cy="914400"/>
          </a:xfrm>
          <a:prstGeom prst="rect">
            <a:avLst/>
          </a:prstGeom>
        </p:spPr>
        <p:txBody>
          <a:bodyPr wrap="square" anchor="ctr"/>
          <a:lstStyle/>
          <a:p>
            <a:pPr algn="l"/>
            <a:r>
              <a:rPr lang="en-US" dirty="0" sz="3600" b="1">
                <a:solidFill>
                  <a:schemeClr val="accent1"/>
                </a:solidFill>
              </a:rPr>
              <a:t>Data Visualization</a:t>
            </a:r>
          </a:p>
        </p:txBody>
      </p:sp>
      <p:sp>
        <p:nvSpPr>
          <p:cNvPr id="3" name="Shape 3"/>
          <p:cNvSpPr/>
          <p:nvPr/>
        </p:nvSpPr>
        <p:spPr>
          <a:xfrm>
            <a:off x="731520" y="1188720"/>
            <a:ext cx="2743200" cy="36576"/>
          </a:xfrm>
          <a:prstGeom prst="rect">
            <a:avLst/>
          </a:prstGeom>
          <a:solidFill>
            <a:schemeClr val="accent2"/>
          </a:solidFill>
        </p:spPr>
      </p:sp>
      <p:grpSp>
        <p:nvGrpSpPr>
          <p:cNvPr id="4" name="Component 4"/>
          <p:cNvGrpSpPr/>
          <p:nvPr/>
        </p:nvGrpSpPr>
        <p:grpSpPr>
          <a:xfrm>
            <a:off x="731520" y="1645920"/>
            <a:ext cx="3200400" cy="1828800"/>
            <a:chOff x="731520" y="1645920"/>
            <a:chExt cx="3200400" cy="1828800"/>
          </a:xfrm>
        </p:grpSpPr>
        <p:sp>
          <p:nvSpPr>
            <p:cNvPr id="6" name="KpiBg 6"/>
            <p:cNvSpPr/>
            <p:nvPr/>
          </p:nvSpPr>
          <p:spPr>
            <a:xfrm>
              <a:off x="731520" y="1645920"/>
              <a:ext cx="3200400" cy="1828800"/>
            </a:xfrm>
            <a:prstGeom prst="roundRect">
              <a:avLst/>
            </a:prstGeom>
            <a:solidFill>
              <a:schemeClr val="lt2"/>
            </a:solidFill>
          </p:spPr>
        </p:sp>
        <p:sp>
          <p:nvSpPr>
            <p:cNvPr id="7" name="KpiAccent 7"/>
            <p:cNvSpPr/>
            <p:nvPr/>
          </p:nvSpPr>
          <p:spPr>
            <a:xfrm>
              <a:off x="731520" y="3419856"/>
              <a:ext cx="3200400" cy="54864"/>
            </a:xfrm>
            <a:prstGeom prst="rect">
              <a:avLst/>
            </a:prstGeom>
            <a:solidFill>
              <a:schemeClr val="accent1"/>
            </a:solidFill>
          </p:spPr>
        </p:sp>
        <p:sp>
          <p:nvSpPr>
            <p:cNvPr id="8" name="KpiVal 8"/>
            <p:cNvSpPr txBox="1"/>
            <p:nvPr/>
          </p:nvSpPr>
          <p:spPr>
            <a:xfrm>
              <a:off x="1051560" y="2103120"/>
              <a:ext cx="2560320" cy="731520"/>
            </a:xfrm>
            <a:prstGeom prst="rect">
              <a:avLst/>
            </a:prstGeom>
          </p:spPr>
          <p:txBody>
            <a:bodyPr wrap="square" anchor="ctr"/>
            <a:lstStyle/>
            <a:p>
              <a:pPr algn="l"/>
              <a:r>
                <a:rPr lang="en-US" dirty="0" sz="3600" b="1">
                  <a:solidFill>
                    <a:schemeClr val="dk1"/>
                  </a:solidFill>
                </a:rPr>
                <a:t>89%</a:t>
              </a:r>
            </a:p>
          </p:txBody>
        </p:sp>
        <p:sp>
          <p:nvSpPr>
            <p:cNvPr id="9" name="KpiLbl 9"/>
            <p:cNvSpPr txBox="1"/>
            <p:nvPr/>
          </p:nvSpPr>
          <p:spPr>
            <a:xfrm>
              <a:off x="1051560" y="2834640"/>
              <a:ext cx="2560320" cy="365760"/>
            </a:xfrm>
            <a:prstGeom prst="rect">
              <a:avLst/>
            </a:prstGeom>
          </p:spPr>
          <p:txBody>
            <a:bodyPr wrap="square" anchor="t"/>
            <a:lstStyle/>
            <a:p>
              <a:pPr algn="l"/>
              <a:r>
                <a:rPr lang="en-US" dirty="0" sz="1400">
                  <a:solidFill>
                    <a:schemeClr val="dk1"/>
                  </a:solidFill>
                </a:rPr>
                <a:t>Customer Satisfaction</a:t>
              </a:r>
            </a:p>
          </p:txBody>
        </p:sp>
        <p:sp>
          <p:nvSpPr>
            <p:cNvPr id="10" name="KpiDelta 10"/>
            <p:cNvSpPr txBox="1"/>
            <p:nvPr/>
          </p:nvSpPr>
          <p:spPr>
            <a:xfrm>
              <a:off x="2651760" y="2103120"/>
              <a:ext cx="896112" cy="731520"/>
            </a:xfrm>
            <a:prstGeom prst="rect">
              <a:avLst/>
            </a:prstGeom>
          </p:spPr>
          <p:txBody>
            <a:bodyPr wrap="square" anchor="t"/>
            <a:lstStyle/>
            <a:p>
              <a:pPr algn="l"/>
              <a:r>
                <a:rPr lang="en-US" dirty="0" sz="1600">
                  <a:solidFill>
                    <a:srgbClr val="2ecc71"/>
                  </a:solidFill>
                </a:rPr>
                <a:t>+12.5%</a:t>
              </a:r>
            </a:p>
          </p:txBody>
        </p:sp>
      </p:grpSp>
      <p:grpSp>
        <p:nvGrpSpPr>
          <p:cNvPr id="11" name="Component 11"/>
          <p:cNvGrpSpPr/>
          <p:nvPr/>
        </p:nvGrpSpPr>
        <p:grpSpPr>
          <a:xfrm>
            <a:off x="4389120" y="1645920"/>
            <a:ext cx="3200400" cy="1828800"/>
            <a:chOff x="4389120" y="1645920"/>
            <a:chExt cx="3200400" cy="1828800"/>
          </a:xfrm>
        </p:grpSpPr>
        <p:sp>
          <p:nvSpPr>
            <p:cNvPr id="13" name="KpiBg 13"/>
            <p:cNvSpPr/>
            <p:nvPr/>
          </p:nvSpPr>
          <p:spPr>
            <a:xfrm>
              <a:off x="4389120" y="1645920"/>
              <a:ext cx="3200400" cy="1828800"/>
            </a:xfrm>
            <a:prstGeom prst="roundRect">
              <a:avLst/>
            </a:prstGeom>
            <a:solidFill>
              <a:schemeClr val="lt2"/>
            </a:solidFill>
          </p:spPr>
        </p:sp>
        <p:sp>
          <p:nvSpPr>
            <p:cNvPr id="14" name="KpiAccent 14"/>
            <p:cNvSpPr/>
            <p:nvPr/>
          </p:nvSpPr>
          <p:spPr>
            <a:xfrm>
              <a:off x="4389120" y="3419856"/>
              <a:ext cx="3200400" cy="54864"/>
            </a:xfrm>
            <a:prstGeom prst="rect">
              <a:avLst/>
            </a:prstGeom>
            <a:solidFill>
              <a:schemeClr val="accent2"/>
            </a:solidFill>
          </p:spPr>
        </p:sp>
        <p:sp>
          <p:nvSpPr>
            <p:cNvPr id="15" name="KpiVal 15"/>
            <p:cNvSpPr txBox="1"/>
            <p:nvPr/>
          </p:nvSpPr>
          <p:spPr>
            <a:xfrm>
              <a:off x="4709160" y="2103120"/>
              <a:ext cx="2560320" cy="731520"/>
            </a:xfrm>
            <a:prstGeom prst="rect">
              <a:avLst/>
            </a:prstGeom>
          </p:spPr>
          <p:txBody>
            <a:bodyPr wrap="square" anchor="ctr"/>
            <a:lstStyle/>
            <a:p>
              <a:pPr algn="l"/>
              <a:r>
                <a:rPr lang="en-US" dirty="0" sz="3600" b="1">
                  <a:solidFill>
                    <a:schemeClr val="dk1"/>
                  </a:solidFill>
                </a:rPr>
                <a:t>$2.4M</a:t>
              </a:r>
            </a:p>
          </p:txBody>
        </p:sp>
        <p:sp>
          <p:nvSpPr>
            <p:cNvPr id="16" name="KpiLbl 16"/>
            <p:cNvSpPr txBox="1"/>
            <p:nvPr/>
          </p:nvSpPr>
          <p:spPr>
            <a:xfrm>
              <a:off x="4709160" y="2834640"/>
              <a:ext cx="2560320" cy="365760"/>
            </a:xfrm>
            <a:prstGeom prst="rect">
              <a:avLst/>
            </a:prstGeom>
          </p:spPr>
          <p:txBody>
            <a:bodyPr wrap="square" anchor="t"/>
            <a:lstStyle/>
            <a:p>
              <a:pPr algn="l"/>
              <a:r>
                <a:rPr lang="en-US" dirty="0" sz="1400">
                  <a:solidFill>
                    <a:schemeClr val="dk1"/>
                  </a:solidFill>
                </a:rPr>
                <a:t>Revenue Growth</a:t>
              </a:r>
            </a:p>
          </p:txBody>
        </p:sp>
        <p:sp>
          <p:nvSpPr>
            <p:cNvPr id="17" name="KpiDelta 17"/>
            <p:cNvSpPr txBox="1"/>
            <p:nvPr/>
          </p:nvSpPr>
          <p:spPr>
            <a:xfrm>
              <a:off x="6309360" y="2103120"/>
              <a:ext cx="896112" cy="731520"/>
            </a:xfrm>
            <a:prstGeom prst="rect">
              <a:avLst/>
            </a:prstGeom>
          </p:spPr>
          <p:txBody>
            <a:bodyPr wrap="square" anchor="t"/>
            <a:lstStyle/>
            <a:p>
              <a:pPr algn="l"/>
              <a:r>
                <a:rPr lang="en-US" dirty="0" sz="1600">
                  <a:solidFill>
                    <a:srgbClr val="2ecc71"/>
                  </a:solidFill>
                </a:rPr>
                <a:t>+8.3%</a:t>
              </a:r>
            </a:p>
          </p:txBody>
        </p:sp>
      </p:grpSp>
      <p:grpSp>
        <p:nvGrpSpPr>
          <p:cNvPr id="18" name="Component 18"/>
          <p:cNvGrpSpPr/>
          <p:nvPr/>
        </p:nvGrpSpPr>
        <p:grpSpPr>
          <a:xfrm>
            <a:off x="8046720" y="1645920"/>
            <a:ext cx="3200400" cy="1828800"/>
            <a:chOff x="8046720" y="1645920"/>
            <a:chExt cx="3200400" cy="1828800"/>
          </a:xfrm>
        </p:grpSpPr>
        <p:sp>
          <p:nvSpPr>
            <p:cNvPr id="20" name="KpiBg 20"/>
            <p:cNvSpPr/>
            <p:nvPr/>
          </p:nvSpPr>
          <p:spPr>
            <a:xfrm>
              <a:off x="8046720" y="1645920"/>
              <a:ext cx="3200400" cy="1828800"/>
            </a:xfrm>
            <a:prstGeom prst="roundRect">
              <a:avLst/>
            </a:prstGeom>
            <a:solidFill>
              <a:schemeClr val="lt2"/>
            </a:solidFill>
          </p:spPr>
        </p:sp>
        <p:sp>
          <p:nvSpPr>
            <p:cNvPr id="21" name="KpiAccent 21"/>
            <p:cNvSpPr/>
            <p:nvPr/>
          </p:nvSpPr>
          <p:spPr>
            <a:xfrm>
              <a:off x="8046720" y="3419856"/>
              <a:ext cx="3200400" cy="54864"/>
            </a:xfrm>
            <a:prstGeom prst="rect">
              <a:avLst/>
            </a:prstGeom>
            <a:solidFill>
              <a:schemeClr val="accent3"/>
            </a:solidFill>
          </p:spPr>
        </p:sp>
        <p:sp>
          <p:nvSpPr>
            <p:cNvPr id="22" name="KpiVal 22"/>
            <p:cNvSpPr txBox="1"/>
            <p:nvPr/>
          </p:nvSpPr>
          <p:spPr>
            <a:xfrm>
              <a:off x="8366760" y="2103120"/>
              <a:ext cx="2560320" cy="731520"/>
            </a:xfrm>
            <a:prstGeom prst="rect">
              <a:avLst/>
            </a:prstGeom>
          </p:spPr>
          <p:txBody>
            <a:bodyPr wrap="square" anchor="ctr"/>
            <a:lstStyle/>
            <a:p>
              <a:pPr algn="l"/>
              <a:r>
                <a:rPr lang="en-US" dirty="0" sz="3600" b="1">
                  <a:solidFill>
                    <a:schemeClr val="dk1"/>
                  </a:solidFill>
                </a:rPr>
                <a:t>1,247</a:t>
              </a:r>
            </a:p>
          </p:txBody>
        </p:sp>
        <p:sp>
          <p:nvSpPr>
            <p:cNvPr id="23" name="KpiLbl 23"/>
            <p:cNvSpPr txBox="1"/>
            <p:nvPr/>
          </p:nvSpPr>
          <p:spPr>
            <a:xfrm>
              <a:off x="8366760" y="2834640"/>
              <a:ext cx="2560320" cy="365760"/>
            </a:xfrm>
            <a:prstGeom prst="rect">
              <a:avLst/>
            </a:prstGeom>
          </p:spPr>
          <p:txBody>
            <a:bodyPr wrap="square" anchor="t"/>
            <a:lstStyle/>
            <a:p>
              <a:pPr algn="l"/>
              <a:r>
                <a:rPr lang="en-US" dirty="0" sz="1400">
                  <a:solidFill>
                    <a:schemeClr val="dk1"/>
                  </a:solidFill>
                </a:rPr>
                <a:t>Active Users</a:t>
              </a:r>
            </a:p>
          </p:txBody>
        </p:sp>
        <p:sp>
          <p:nvSpPr>
            <p:cNvPr id="24" name="KpiDelta 24"/>
            <p:cNvSpPr txBox="1"/>
            <p:nvPr/>
          </p:nvSpPr>
          <p:spPr>
            <a:xfrm>
              <a:off x="9966960" y="2103120"/>
              <a:ext cx="896112" cy="731520"/>
            </a:xfrm>
            <a:prstGeom prst="rect">
              <a:avLst/>
            </a:prstGeom>
          </p:spPr>
          <p:txBody>
            <a:bodyPr wrap="square" anchor="t"/>
            <a:lstStyle/>
            <a:p>
              <a:pPr algn="l"/>
              <a:r>
                <a:rPr lang="en-US" dirty="0" sz="1600">
                  <a:solidFill>
                    <a:srgbClr val="2ecc71"/>
                  </a:solidFill>
                </a:rPr>
                <a:t>+32.1%</a:t>
              </a:r>
            </a:p>
          </p:txBody>
        </p:sp>
      </p:grpSp>
      <p:grpSp>
        <p:nvGrpSpPr>
          <p:cNvPr id="25" name="Component 25"/>
          <p:cNvGrpSpPr/>
          <p:nvPr/>
        </p:nvGrpSpPr>
        <p:grpSpPr>
          <a:xfrm>
            <a:off x="731520" y="3931920"/>
            <a:ext cx="10728655" cy="548640"/>
            <a:chOff x="731520" y="3931920"/>
            <a:chExt cx="10728655" cy="548640"/>
          </a:xfrm>
        </p:grpSpPr>
        <p:sp>
          <p:nvSpPr>
            <p:cNvPr id="27" name="Track 27"/>
            <p:cNvSpPr/>
            <p:nvPr/>
          </p:nvSpPr>
          <p:spPr>
            <a:xfrm>
              <a:off x="731520" y="3931920"/>
              <a:ext cx="10728655" cy="548640"/>
            </a:xfrm>
            <a:prstGeom prst="roundRect">
              <a:avLst/>
            </a:prstGeom>
            <a:solidFill>
              <a:schemeClr val="lt2"/>
            </a:solidFill>
          </p:spPr>
        </p:sp>
        <p:sp>
          <p:nvSpPr>
            <p:cNvPr id="28" name="Fill 28"/>
            <p:cNvSpPr/>
            <p:nvPr/>
          </p:nvSpPr>
          <p:spPr>
            <a:xfrm>
              <a:off x="731520" y="3931920"/>
              <a:ext cx="8046491" cy="548640"/>
            </a:xfrm>
            <a:prstGeom prst="roundRect">
              <a:avLst/>
            </a:prstGeom>
            <a:solidFill>
              <a:schemeClr val="accent1"/>
            </a:solidFill>
          </p:spPr>
        </p:sp>
        <p:sp>
          <p:nvSpPr>
            <p:cNvPr id="29" name="Label 29"/>
            <p:cNvSpPr txBox="1"/>
            <p:nvPr/>
          </p:nvSpPr>
          <p:spPr>
            <a:xfrm>
              <a:off x="11551615" y="3931920"/>
              <a:ext cx="1371600" cy="548640"/>
            </a:xfrm>
            <a:prstGeom prst="rect">
              <a:avLst/>
            </a:prstGeom>
          </p:spPr>
          <p:txBody>
            <a:bodyPr wrap="square" anchor="l"/>
            <a:lstStyle/>
            <a:p>
              <a:pPr algn="l"/>
              <a:r>
                <a:rPr lang="en-US" dirty="0" sz="1200">
                  <a:solidFill>
                    <a:schemeClr val="dk1"/>
                  </a:solidFill>
                </a:rPr>
                <a:t>Project Progress</a:t>
              </a:r>
            </a:p>
          </p:txBody>
        </p:sp>
      </p:grpSp>
      <p:grpSp>
        <p:nvGrpSpPr>
          <p:cNvPr id="30" name="Component 30"/>
          <p:cNvGrpSpPr/>
          <p:nvPr/>
        </p:nvGrpSpPr>
        <p:grpSpPr>
          <a:xfrm>
            <a:off x="731520" y="4846320"/>
            <a:ext cx="1371600" cy="1371600"/>
            <a:chOff x="731520" y="4846320"/>
            <a:chExt cx="1371600" cy="1371600"/>
          </a:xfrm>
        </p:grpSpPr>
        <p:sp>
          <p:nvSpPr>
            <p:cNvPr id="32" name="RingTrack 32"/>
            <p:cNvSpPr/>
            <p:nvPr/>
          </p:nvSpPr>
          <p:spPr>
            <a:xfrm>
              <a:off x="731520" y="4846320"/>
              <a:ext cx="1371600" cy="1371600"/>
            </a:xfrm>
            <a:prstGeom prst="ellipse">
              <a:avLst/>
            </a:prstGeom>
            <a:noFill/>
            <a:ln w="101600">
              <a:solidFill>
                <a:schemeClr val="lt2"/>
              </a:solidFill>
            </a:ln>
          </p:spPr>
        </p:sp>
        <p:sp>
          <p:nvSpPr>
            <p:cNvPr id="33" name="RingFill 33"/>
            <p:cNvSpPr/>
            <p:nvPr/>
          </p:nvSpPr>
          <p:spPr>
            <a:xfrm>
              <a:off x="731520" y="4846320"/>
              <a:ext cx="1371600" cy="1371600"/>
            </a:xfrm>
            <a:prstGeom prst="blockArc">
              <a:avLst>
                <a:gd name="adj" fmla="val 21600"/>
              </a:avLst>
            </a:prstGeom>
            <a:solidFill>
              <a:srgbClr val="accent2"/>
            </a:solidFill>
            <a:ln w="101600">
              <a:solidFill>
                <a:srgbClr val="accent2"/>
              </a:solidFill>
            </a:ln>
          </p:spPr>
        </p:sp>
        <p:sp>
          <p:nvSpPr>
            <p:cNvPr id="34" name="RingLabel 34"/>
            <p:cNvSpPr txBox="1"/>
            <p:nvPr/>
          </p:nvSpPr>
          <p:spPr>
            <a:xfrm>
              <a:off x="937260" y="5257800"/>
              <a:ext cx="960120" cy="548640"/>
            </a:xfrm>
            <a:prstGeom prst="rect">
              <a:avLst/>
            </a:prstGeom>
          </p:spPr>
          <p:txBody>
            <a:bodyPr wrap="square" anchor="ctr"/>
            <a:lstStyle/>
            <a:p>
              <a:pPr algn="ctr"/>
              <a:r>
                <a:rPr lang="en-US" dirty="0" sz="1600" b="1">
                  <a:solidFill>
                    <a:schemeClr val="dk1"/>
                  </a:solidFill>
                </a:rPr>
                <a:t>60%</a:t>
              </a:r>
            </a:p>
          </p:txBody>
        </p:sp>
      </p:grpSp>
      <p:grpSp>
        <p:nvGrpSpPr>
          <p:cNvPr id="35" name="Component 35"/>
          <p:cNvGrpSpPr/>
          <p:nvPr/>
        </p:nvGrpSpPr>
        <p:grpSpPr>
          <a:xfrm>
            <a:off x="2743200" y="4572000"/>
            <a:ext cx="4572000" cy="1828800"/>
            <a:chOff x="2743200" y="4572000"/>
            <a:chExt cx="4572000" cy="1828800"/>
          </a:xfrm>
        </p:grpSpPr>
      </p:grpSp>
      <p:grpSp>
        <p:nvGrpSpPr>
          <p:cNvPr id="37" name="Component 37"/>
          <p:cNvGrpSpPr/>
          <p:nvPr/>
        </p:nvGrpSpPr>
        <p:grpSpPr>
          <a:xfrm>
            <a:off x="7772400" y="5029200"/>
            <a:ext cx="3657600" cy="548640"/>
            <a:chOff x="7772400" y="5029200"/>
            <a:chExt cx="3657600" cy="548640"/>
          </a:xfrm>
        </p:grpSpPr>
        <p:sp>
          <p:nvSpPr>
            <p:cNvPr id="39" name="Star 39"/>
            <p:cNvSpPr/>
            <p:nvPr/>
          </p:nvSpPr>
          <p:spPr>
            <a:xfrm>
              <a:off x="7772400" y="5070348"/>
              <a:ext cx="466344" cy="466344"/>
            </a:xfrm>
            <a:prstGeom prst="star5">
              <a:avLst/>
            </a:prstGeom>
            <a:solidFill>
              <a:schemeClr val="lt2"/>
            </a:solidFill>
          </p:spPr>
        </p:sp>
        <p:sp>
          <p:nvSpPr>
            <p:cNvPr id="40" name="Star 40"/>
            <p:cNvSpPr/>
            <p:nvPr/>
          </p:nvSpPr>
          <p:spPr>
            <a:xfrm>
              <a:off x="8308696" y="5070348"/>
              <a:ext cx="466344" cy="466344"/>
            </a:xfrm>
            <a:prstGeom prst="star5">
              <a:avLst/>
            </a:prstGeom>
            <a:solidFill>
              <a:schemeClr val="lt2"/>
            </a:solidFill>
          </p:spPr>
        </p:sp>
        <p:sp>
          <p:nvSpPr>
            <p:cNvPr id="41" name="Star 41"/>
            <p:cNvSpPr/>
            <p:nvPr/>
          </p:nvSpPr>
          <p:spPr>
            <a:xfrm>
              <a:off x="8844991" y="5070348"/>
              <a:ext cx="466344" cy="466344"/>
            </a:xfrm>
            <a:prstGeom prst="star5">
              <a:avLst/>
            </a:prstGeom>
            <a:solidFill>
              <a:schemeClr val="lt2"/>
            </a:solidFill>
          </p:spPr>
        </p:sp>
        <p:sp>
          <p:nvSpPr>
            <p:cNvPr id="42" name="Star 42"/>
            <p:cNvSpPr/>
            <p:nvPr/>
          </p:nvSpPr>
          <p:spPr>
            <a:xfrm>
              <a:off x="9381287" y="5070348"/>
              <a:ext cx="466344" cy="466344"/>
            </a:xfrm>
            <a:prstGeom prst="star5">
              <a:avLst/>
            </a:prstGeom>
            <a:solidFill>
              <a:schemeClr val="lt2"/>
            </a:solidFill>
          </p:spPr>
        </p:sp>
        <p:sp>
          <p:nvSpPr>
            <p:cNvPr id="43" name="Star 43"/>
            <p:cNvSpPr/>
            <p:nvPr/>
          </p:nvSpPr>
          <p:spPr>
            <a:xfrm>
              <a:off x="9917582" y="5070348"/>
              <a:ext cx="466344" cy="466344"/>
            </a:xfrm>
            <a:prstGeom prst="star5">
              <a:avLst/>
            </a:prstGeom>
            <a:solidFill>
              <a:schemeClr val="lt2"/>
            </a:solidFill>
          </p:spPr>
        </p:sp>
      </p:grpSp>
    </p:spTree>
  </p:cSl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731520" y="365760"/>
            <a:ext cx="10728655" cy="914400"/>
          </a:xfrm>
          <a:prstGeom prst="rect">
            <a:avLst/>
          </a:prstGeom>
        </p:spPr>
        <p:txBody>
          <a:bodyPr wrap="square" anchor="ctr"/>
          <a:lstStyle/>
          <a:p>
            <a:pPr algn="l"/>
            <a:r>
              <a:rPr lang="en-US" dirty="0" sz="3600" b="1">
                <a:solidFill>
                  <a:schemeClr val="accent1"/>
                </a:solidFill>
              </a:rPr>
              <a:t>Content Layouts</a:t>
            </a:r>
          </a:p>
        </p:txBody>
      </p:sp>
      <p:sp>
        <p:nvSpPr>
          <p:cNvPr id="3" name="Shape 3"/>
          <p:cNvSpPr/>
          <p:nvPr/>
        </p:nvSpPr>
        <p:spPr>
          <a:xfrm>
            <a:off x="731520" y="1188720"/>
            <a:ext cx="2743200" cy="36576"/>
          </a:xfrm>
          <a:prstGeom prst="rect">
            <a:avLst/>
          </a:prstGeom>
          <a:solidFill>
            <a:schemeClr val="accent2"/>
          </a:solidFill>
        </p:spPr>
      </p:sp>
      <p:graphicFrame>
        <p:nvGraphicFramePr>
          <p:cNvPr id="4" name="Data Table"/>
          <p:cNvGraphicFramePr>
            <a:graphicFrameLocks noGrp="1"/>
          </p:cNvGraphicFramePr>
          <p:nvPr/>
        </p:nvGraphicFramePr>
        <p:xfrm>
          <a:off x="731520" y="1645920"/>
          <a:ext cx="10728655" cy="2743200"/>
        </p:xfrm>
        <a:graphic>
          <a:graphicData uri="http://schemas.openxmlformats.org/drawingml/2006/table">
            <a:tbl>
              <a:tblPr firstRow="1" bandRow="1">
                <a:tblStyle val="{5C22544A-7EE6-4342-B048-85BDC9FD1C3A}"/>
              </a:tblPr>
              <a:tblGrid>
                <a:gridCol w="2682163"/>
                <a:gridCol w="2682163"/>
                <a:gridCol w="2682163"/>
                <a:gridCol w="2682163"/>
              </a:tblGrid>
              <a:tr h="685800">
                <a:tc>
                  <a:txBody>
                    <a:bodyPr/>
                    <a:lstStyle/>
                    <a:p>
                      <a:pPr algn="ctr"/>
                      <a:r>
                        <a:rPr lang="en-US" sz="1300" b="1" dirty="0">
                          <a:solidFill>
                            <a:srgbClr val="lt1"/>
                          </a:solidFill>
                        </a:rPr>
                        <a:t>Quarter</a:t>
                      </a:r>
                    </a:p>
                  </a:txBody>
                  <a:tcPr>
                    <a:solidFill>
                      <a:schemeClr val="accent1"/>
                    </a:solidFill>
                  </a:tcPr>
                </a:tc>
                <a:tc>
                  <a:txBody>
                    <a:bodyPr/>
                    <a:lstStyle/>
                    <a:p>
                      <a:pPr algn="ctr"/>
                      <a:r>
                        <a:rPr lang="en-US" sz="1300" b="1" dirty="0">
                          <a:solidFill>
                            <a:srgbClr val="lt1"/>
                          </a:solidFill>
                        </a:rPr>
                        <a:t>Revenue</a:t>
                      </a:r>
                    </a:p>
                  </a:txBody>
                  <a:tcPr>
                    <a:solidFill>
                      <a:schemeClr val="accent1"/>
                    </a:solidFill>
                  </a:tcPr>
                </a:tc>
                <a:tc>
                  <a:txBody>
                    <a:bodyPr/>
                    <a:lstStyle/>
                    <a:p>
                      <a:pPr algn="ctr"/>
                      <a:r>
                        <a:rPr lang="en-US" sz="1300" b="1" dirty="0">
                          <a:solidFill>
                            <a:srgbClr val="lt1"/>
                          </a:solidFill>
                        </a:rPr>
                        <a:t>Growth</a:t>
                      </a:r>
                    </a:p>
                  </a:txBody>
                  <a:tcPr>
                    <a:solidFill>
                      <a:schemeClr val="accent1"/>
                    </a:solidFill>
                  </a:tcPr>
                </a:tc>
                <a:tc>
                  <a:txBody>
                    <a:bodyPr/>
                    <a:lstStyle/>
                    <a:p>
                      <a:pPr algn="ctr"/>
                      <a:r>
                        <a:rPr lang="en-US" sz="1300" b="1" dirty="0">
                          <a:solidFill>
                            <a:srgbClr val="lt1"/>
                          </a:solidFill>
                        </a:rPr>
                        <a:t>Status</a:t>
                      </a:r>
                    </a:p>
                  </a:txBody>
                  <a:tcPr>
                    <a:solidFill>
                      <a:schemeClr val="accent1"/>
                    </a:solidFill>
                  </a:tcPr>
                </a:tc>
              </a:tr>
              <a:tr h="685800">
                <a:tc>
                  <a:txBody>
                    <a:bodyPr/>
                    <a:lstStyle/>
                    <a:p>
                      <a:pPr algn="l"/>
                      <a:r>
                        <a:rPr lang="en-US" sz="1200" dirty="0">
                          <a:solidFill>
                            <a:srgbClr val="000000"/>
                          </a:solidFill>
                        </a:rPr>
                        <a:t>Q1 2026</a:t>
                      </a:r>
                    </a:p>
                  </a:txBody>
                  <a:tcPr/>
                </a:tc>
                <a:tc>
                  <a:txBody>
                    <a:bodyPr/>
                    <a:lstStyle/>
                    <a:p>
                      <a:pPr algn="r"/>
                      <a:r>
                        <a:rPr lang="en-US" sz="1200" dirty="0">
                          <a:solidFill>
                            <a:srgbClr val="000000"/>
                          </a:solidFill>
                        </a:rPr>
                        <a:t>$1.2M</a:t>
                      </a:r>
                    </a:p>
                  </a:txBody>
                  <a:tcPr/>
                </a:tc>
                <a:tc>
                  <a:txBody>
                    <a:bodyPr/>
                    <a:lstStyle/>
                    <a:p>
                      <a:pPr algn="r"/>
                      <a:r>
                        <a:rPr lang="en-US" sz="1200" b="1" dirty="0">
                          <a:solidFill>
                            <a:srgbClr val="accent5"/>
                          </a:solidFill>
                        </a:rPr>
                        <a:t>+8.5%</a:t>
                      </a:r>
                    </a:p>
                  </a:txBody>
                  <a:tcPr/>
                </a:tc>
                <a:tc>
                  <a:txBody>
                    <a:bodyPr/>
                    <a:lstStyle/>
                    <a:p>
                      <a:pPr algn="ctr"/>
                      <a:r>
                        <a:rPr lang="en-US" sz="1200" b="1" dirty="0">
                          <a:solidFill>
                            <a:srgbClr val="accent5"/>
                          </a:solidFill>
                        </a:rPr>
                        <a:t>On Track</a:t>
                      </a:r>
                    </a:p>
                  </a:txBody>
                  <a:tcPr/>
                </a:tc>
              </a:tr>
              <a:tr h="685800">
                <a:tc>
                  <a:txBody>
                    <a:bodyPr/>
                    <a:lstStyle/>
                    <a:p>
                      <a:pPr algn="l"/>
                      <a:r>
                        <a:rPr lang="en-US" sz="1200" dirty="0">
                          <a:solidFill>
                            <a:srgbClr val="000000"/>
                          </a:solidFill>
                        </a:rPr>
                        <a:t>Q2 2026</a:t>
                      </a:r>
                    </a:p>
                  </a:txBody>
                  <a:tcPr/>
                </a:tc>
                <a:tc>
                  <a:txBody>
                    <a:bodyPr/>
                    <a:lstStyle/>
                    <a:p>
                      <a:pPr algn="r"/>
                      <a:r>
                        <a:rPr lang="en-US" sz="1200" dirty="0">
                          <a:solidFill>
                            <a:srgbClr val="000000"/>
                          </a:solidFill>
                        </a:rPr>
                        <a:t>$1.5M</a:t>
                      </a:r>
                    </a:p>
                  </a:txBody>
                  <a:tcPr/>
                </a:tc>
                <a:tc>
                  <a:txBody>
                    <a:bodyPr/>
                    <a:lstStyle/>
                    <a:p>
                      <a:pPr algn="r"/>
                      <a:r>
                        <a:rPr lang="en-US" sz="1200" b="1" dirty="0">
                          <a:solidFill>
                            <a:srgbClr val="accent5"/>
                          </a:solidFill>
                        </a:rPr>
                        <a:t>+25.0%</a:t>
                      </a:r>
                    </a:p>
                  </a:txBody>
                  <a:tcPr/>
                </a:tc>
                <a:tc>
                  <a:txBody>
                    <a:bodyPr/>
                    <a:lstStyle/>
                    <a:p>
                      <a:pPr algn="ctr"/>
                      <a:r>
                        <a:rPr lang="en-US" sz="1200" b="1" dirty="0">
                          <a:solidFill>
                            <a:srgbClr val="accent5"/>
                          </a:solidFill>
                        </a:rPr>
                        <a:t>Exceeded</a:t>
                      </a:r>
                    </a:p>
                  </a:txBody>
                  <a:tcPr/>
                </a:tc>
              </a:tr>
              <a:tr h="685800">
                <a:tc>
                  <a:txBody>
                    <a:bodyPr/>
                    <a:lstStyle/>
                    <a:p>
                      <a:pPr algn="l"/>
                      <a:r>
                        <a:rPr lang="en-US" sz="1200" dirty="0">
                          <a:solidFill>
                            <a:srgbClr val="000000"/>
                          </a:solidFill>
                        </a:rPr>
                        <a:t>Q3 2026</a:t>
                      </a:r>
                    </a:p>
                  </a:txBody>
                  <a:tcPr/>
                </a:tc>
                <a:tc>
                  <a:txBody>
                    <a:bodyPr/>
                    <a:lstStyle/>
                    <a:p>
                      <a:pPr algn="r"/>
                      <a:r>
                        <a:rPr lang="en-US" sz="1200" dirty="0">
                          <a:solidFill>
                            <a:srgbClr val="000000"/>
                          </a:solidFill>
                        </a:rPr>
                        <a:t>$1.1M</a:t>
                      </a:r>
                    </a:p>
                  </a:txBody>
                  <a:tcPr/>
                </a:tc>
                <a:tc>
                  <a:txBody>
                    <a:bodyPr/>
                    <a:lstStyle/>
                    <a:p>
                      <a:pPr algn="r"/>
                      <a:r>
                        <a:rPr lang="en-US" sz="1200" b="1" dirty="0">
                          <a:solidFill>
                            <a:srgbClr val="accent6"/>
                          </a:solidFill>
                        </a:rPr>
                        <a:t>-6.7%</a:t>
                      </a:r>
                    </a:p>
                  </a:txBody>
                  <a:tcPr/>
                </a:tc>
                <a:tc>
                  <a:txBody>
                    <a:bodyPr/>
                    <a:lstStyle/>
                    <a:p>
                      <a:pPr algn="ctr"/>
                      <a:r>
                        <a:rPr lang="en-US" sz="1200" b="1" dirty="0">
                          <a:solidFill>
                            <a:srgbClr val="accent6"/>
                          </a:solidFill>
                        </a:rPr>
                        <a:t>At Risk</a:t>
                      </a:r>
                    </a:p>
                  </a:txBody>
                  <a:tcPr/>
                </a:tc>
              </a:tr>
            </a:tbl>
          </a:graphicData>
        </a:graphic>
      </p:graphicFrame>
      <p:grpSp>
        <p:nvGrpSpPr>
          <p:cNvPr id="5" name="Component 5"/>
          <p:cNvGrpSpPr/>
          <p:nvPr/>
        </p:nvGrpSpPr>
        <p:grpSpPr>
          <a:xfrm>
            <a:off x="731520" y="5029200"/>
            <a:ext cx="10728655" cy="731520"/>
            <a:chOff x="731520" y="5029200"/>
            <a:chExt cx="10728655" cy="731520"/>
          </a:xfrm>
        </p:grpSpPr>
      </p:grpSp>
    </p:spTree>
  </p:cSld>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731520" y="365760"/>
            <a:ext cx="10728655" cy="914400"/>
          </a:xfrm>
          <a:prstGeom prst="rect">
            <a:avLst/>
          </a:prstGeom>
        </p:spPr>
        <p:txBody>
          <a:bodyPr wrap="square" anchor="ctr"/>
          <a:lstStyle/>
          <a:p>
            <a:pPr algn="l"/>
            <a:r>
              <a:rPr lang="en-US" dirty="0" sz="3600" b="1">
                <a:solidFill>
                  <a:schemeClr val="accent1"/>
                </a:solidFill>
              </a:rPr>
              <a:t>Timeline &amp; Process</a:t>
            </a:r>
          </a:p>
        </p:txBody>
      </p:sp>
      <p:sp>
        <p:nvSpPr>
          <p:cNvPr id="3" name="Shape 3"/>
          <p:cNvSpPr/>
          <p:nvPr/>
        </p:nvSpPr>
        <p:spPr>
          <a:xfrm>
            <a:off x="731520" y="1188720"/>
            <a:ext cx="2743200" cy="36576"/>
          </a:xfrm>
          <a:prstGeom prst="rect">
            <a:avLst/>
          </a:prstGeom>
          <a:solidFill>
            <a:schemeClr val="accent2"/>
          </a:solidFill>
        </p:spPr>
      </p:sp>
      <p:grpSp>
        <p:nvGrpSpPr>
          <p:cNvPr id="4" name="Component 4"/>
          <p:cNvGrpSpPr/>
          <p:nvPr/>
        </p:nvGrpSpPr>
        <p:grpSpPr>
          <a:xfrm>
            <a:off x="731520" y="1828800"/>
            <a:ext cx="10728655" cy="1371600"/>
            <a:chOff x="731520" y="1828800"/>
            <a:chExt cx="10728655" cy="1371600"/>
          </a:xfrm>
        </p:grpSpPr>
      </p:grpSp>
      <p:sp>
        <p:nvSpPr>
          <p:cNvPr id="6" name="Shape 6"/>
          <p:cNvSpPr/>
          <p:nvPr/>
        </p:nvSpPr>
        <p:spPr>
          <a:xfrm>
            <a:off x="731520" y="3657600"/>
            <a:ext cx="5029200" cy="2286000"/>
          </a:xfrm>
          <a:prstGeom prst="rect">
            <a:avLst/>
          </a:prstGeom>
          <a:solidFill>
            <a:schemeClr val="lt2"/>
          </a:solidFill>
          <a:effectLst>
            <a:outerShdw blurRad="101600" dist="50800" dir="2700000" rotWithShape="0">
              <a:srgbClr val="000000">
                <a:alpha val="150"/>
              </a:srgbClr>
            </a:outerShdw>
          </a:effectLst>
        </p:spPr>
      </p:sp>
      <p:sp>
        <p:nvSpPr>
          <p:cNvPr id="7" name="TextBox 7"/>
          <p:cNvSpPr txBox="1"/>
          <p:nvPr/>
        </p:nvSpPr>
        <p:spPr>
          <a:xfrm>
            <a:off x="1188720" y="3840480"/>
            <a:ext cx="4114800" cy="548640"/>
          </a:xfrm>
          <a:prstGeom prst="rect">
            <a:avLst/>
          </a:prstGeom>
        </p:spPr>
        <p:txBody>
          <a:bodyPr wrap="square" anchor="ctr"/>
          <a:lstStyle/>
          <a:p>
            <a:pPr algn="l"/>
            <a:r>
              <a:rPr lang="en-US" dirty="0" sz="2000" b="1">
                <a:solidFill>
                  <a:schemeClr val="accent1"/>
                </a:solidFill>
              </a:rPr>
              <a:t>Key Insight</a:t>
            </a:r>
          </a:p>
        </p:txBody>
      </p:sp>
      <p:sp>
        <p:nvSpPr>
          <p:cNvPr id="8" name="TextBox 8"/>
          <p:cNvSpPr txBox="1"/>
          <p:nvPr/>
        </p:nvSpPr>
        <p:spPr>
          <a:xfrm>
            <a:off x="1188720" y="4480560"/>
            <a:ext cx="4114800" cy="1097280"/>
          </a:xfrm>
          <a:prstGeom prst="rect">
            <a:avLst/>
          </a:prstGeom>
        </p:spPr>
        <p:txBody>
          <a:bodyPr wrap="square" anchor="t"/>
          <a:lstStyle/>
          <a:p>
            <a:pPr algn="l"/>
            <a:r>
              <a:rPr lang="en-US" dirty="0" sz="1400">
                <a:solidFill>
                  <a:schemeClr val="dk2"/>
                </a:solidFill>
              </a:rPr>
              <a:t>Early user feedback showed 94% adoption rate within the first month, validating our product-market fit strategy.</a:t>
            </a:r>
          </a:p>
        </p:txBody>
      </p:sp>
      <p:sp>
        <p:nvSpPr>
          <p:cNvPr id="9" name="Shape 9"/>
          <p:cNvSpPr/>
          <p:nvPr/>
        </p:nvSpPr>
        <p:spPr>
          <a:xfrm>
            <a:off x="6400800" y="3657600"/>
            <a:ext cx="5029200" cy="2286000"/>
          </a:xfrm>
          <a:prstGeom prst="rect">
            <a:avLst/>
          </a:prstGeom>
          <a:solidFill>
            <a:schemeClr val="accent1"/>
          </a:solidFill>
          <a:effectLst>
            <a:outerShdw blurRad="101600" dist="50800" dir="2700000" rotWithShape="0">
              <a:srgbClr val="000000">
                <a:alpha val="200"/>
              </a:srgbClr>
            </a:outerShdw>
          </a:effectLst>
        </p:spPr>
      </p:sp>
      <p:sp>
        <p:nvSpPr>
          <p:cNvPr id="10" name="TextBox 10"/>
          <p:cNvSpPr txBox="1"/>
          <p:nvPr/>
        </p:nvSpPr>
        <p:spPr>
          <a:xfrm>
            <a:off x="6858000" y="3840480"/>
            <a:ext cx="4114800" cy="548640"/>
          </a:xfrm>
          <a:prstGeom prst="rect">
            <a:avLst/>
          </a:prstGeom>
        </p:spPr>
        <p:txBody>
          <a:bodyPr wrap="square" anchor="ctr"/>
          <a:lstStyle/>
          <a:p>
            <a:pPr algn="l"/>
            <a:r>
              <a:rPr lang="en-US" dirty="0" sz="2000" b="1">
                <a:solidFill>
                  <a:schemeClr val="lt1"/>
                </a:solidFill>
              </a:rPr>
              <a:t>Next Steps</a:t>
            </a:r>
          </a:p>
        </p:txBody>
      </p:sp>
      <p:sp>
        <p:nvSpPr>
          <p:cNvPr id="11" name="TextBox 11"/>
          <p:cNvSpPr txBox="1"/>
          <p:nvPr/>
        </p:nvSpPr>
        <p:spPr>
          <a:xfrm>
            <a:off x="6858000" y="4480560"/>
            <a:ext cx="4114800" cy="1280160"/>
          </a:xfrm>
          <a:prstGeom prst="rect">
            <a:avLst/>
          </a:prstGeom>
        </p:spPr>
        <p:txBody>
          <a:bodyPr wrap="square" anchor="t"/>
          <a:lstStyle/>
          <a:p>
            <a:pPr algn="l"/>
            <a:r>
              <a:rPr lang="en-US" dirty="0" sz="1400">
                <a:solidFill>
                  <a:schemeClr val="lt1"/>
                </a:solidFill>
              </a:rPr>
              <a:t>• Expand to APAC market</a:t>
            </a:r>
            <a:br>
              <a:rPr lang="en-US" dirty="0" sz="1400">
                <a:solidFill>
                  <a:schemeClr val="lt1"/>
                </a:solidFill>
              </a:rPr>
            </a:br>
            <a:r>
              <a:rPr lang="en-US" dirty="0" sz="1400">
                <a:solidFill>
                  <a:schemeClr val="lt1"/>
                </a:solidFill>
              </a:rPr>
              <a:t>• Hire 15 new engineers</a:t>
            </a:r>
            <a:br>
              <a:rPr lang="en-US" dirty="0" sz="1400">
                <a:solidFill>
                  <a:schemeClr val="lt1"/>
                </a:solidFill>
              </a:rPr>
            </a:br>
            <a:r>
              <a:rPr lang="en-US" dirty="0" sz="1400">
                <a:solidFill>
                  <a:schemeClr val="lt1"/>
                </a:solidFill>
              </a:rPr>
              <a:t>• Launch v2.0 in Q2</a:t>
            </a:r>
            <a:br>
              <a:rPr lang="en-US" dirty="0" sz="1400">
                <a:solidFill>
                  <a:schemeClr val="lt1"/>
                </a:solidFill>
              </a:rPr>
            </a:br>
            <a:r>
              <a:rPr lang="en-US" dirty="0" sz="1400">
                <a:solidFill>
                  <a:schemeClr val="lt1"/>
                </a:solidFill>
              </a:rPr>
              <a:t>• Reach $5M ARR by year end</a:t>
            </a:r>
          </a:p>
        </p:txBody>
      </p:sp>
    </p:spTree>
  </p:cSld>
</p:sld>
</file>

<file path=ppt/theme/theme1.xml><?xml version="1.0" encoding="utf-8"?>
<a:theme xmlns:a="http://schemas.openxmlformats.org/drawingml/2006/main" name="json2pptx Theme">
  <a:themeElements>
    <a:clrScheme name="json2pptx">
      <a:dk1>
        <a:srgbClr val="000000"/>
      </a:dk1>
      <a:lt1>
        <a:srgbClr val="FFFFFF"/>
      </a:lt1>
      <a:dk2>
        <a:srgbClr val="1E3A5F"/>
      </a:dk2>
      <a:lt2>
        <a:srgbClr val="F0F4FA"/>
      </a:lt2>
      <a:accent1>
        <a:srgbClr val="0078D4"/>
      </a:accent1>
      <a:accent2>
        <a:srgbClr val="00BCF2"/>
      </a:accent2>
      <a:accent3>
        <a:srgbClr val="0099FF"/>
      </a:accent3>
      <a:accent4>
        <a:srgbClr val="FFB900"/>
      </a:accent4>
      <a:accent5>
        <a:srgbClr val="7FBA00"/>
      </a:accent5>
      <a:accent6>
        <a:srgbClr val="E74856"/>
      </a:accent6>
      <a:hlink>
        <a:srgbClr val="0078D4"/>
      </a:hlink>
      <a:folHlink>
        <a:srgbClr val="9B59B6"/>
      </a:folHlink>
    </a:clrScheme>
    <a:fontScheme name="json2pptx">
      <a:majorFont>
        <a:latin typeface="Segoe UI"/>
        <a:ea typeface=""/>
        <a:cs typeface=""/>
      </a:majorFont>
      <a:minorFont>
        <a:latin typeface="Microsoft YaHei"/>
        <a:ea typeface=""/>
        <a:cs typeface=""/>
      </a:minorFont>
    </a:fontScheme>
    <a:fmtScheme name="json2pptx">
      <a:fillStyleLst>
        <a:solidFill>
          <a:schemeClr val="phClr"/>
        </a:solidFill>
        <a:solidFill>
          <a:schemeClr val="phClr"/>
        </a:solidFill>
        <a:solidFill>
          <a:schemeClr val="phClr"/>
        </a:solidFill>
      </a:fillStyleLst>
      <a:lnStyleLst>
        <a:ln w="6350" cap="flat" cmpd="sng" algn="ctr">
          <a:solidFill>
            <a:schemeClr val="phClr"/>
          </a:solidFill>
        </a:ln>
        <a:ln w="12700" cap="flat" cmpd="sng" algn="ctr">
          <a:solidFill>
            <a:schemeClr val="phClr"/>
          </a:solidFill>
        </a:ln>
        <a:ln w="19050" cap="flat" cmpd="sng" algn="ctr">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json2pptx</Application>
  <Slides>5</Slides>
  <ScaleCrop>false</ScaleCrop>
  <LinksUpToDate>false</LinksUpToDate>
  <SharedDoc>false</SharedDoc>
  <HyperlinksChanged>false</HyperlinksChanged>
</Properties>
</file>

<file path=docProps/core.xml><?xml version="1.0" encoding="utf-8"?>
<cp:coreProperties xmlns:cp="http://schemas.openxmlformats.org/package/2006/metadata/core-properties" xmlns:dc="http://purl.org/dc/elements/1.1/" xmlns:dcterms="http://purl.org/dc/terms/" xmlns:xsi="http://www.w3.org/2001/XMLSchema-instance">
  <dc:title>现代简洁 - AI PPT Template</dc:title>
  <dc:creator>AI PPT</dc:creator>
  <cp:lastModifiedBy>AI PPT</cp:lastModifiedBy>
  <dcterms:created xsi:type="dcterms:W3CDTF">2026-01-01T00:56:20Z</dcterms:created>
  <dcterms:modified xsi:type="dcterms:W3CDTF">2026-01-01T00:56:20Z</dcterms:modified>
  <cp:revision>1</cp:revision>
</cp:coreProperties>
</file>